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26000"/>
            <a:ext cx="12188952" cy="43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468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A8A8"/>
                </a:solidFill>
                <a:latin typeface="Calibri"/>
              </a:rPr>
              <a:t>INEO — 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240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SendMailNotificationHTML.ps1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908000"/>
            <a:ext cx="1146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0EEEE"/>
                </a:solidFill>
                <a:latin typeface="Calibri"/>
              </a:rPr>
              <a:t>Documentation complète des paramètres — v4.2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480000"/>
            <a:ext cx="11468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DSI · Crédit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Présentation générale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00000"/>
            <a:ext cx="11612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Moteur universel de notification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11468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📌  1 moteur commun pour tous les traitements (DADP, YHM, futurs jobs)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48000"/>
            <a:ext cx="11468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📌  L'intelligence métier reste dans le traitement (ODI / SQL / BAT)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836000"/>
            <a:ext cx="11468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📌  Le moteur ne fait que METTRE EN FORME et ENVOYER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124000"/>
            <a:ext cx="11468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📌  1 traitement complet = ce moteur + 1 config JSON. Aucun autre fichier requis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520000"/>
            <a:ext cx="11828952" cy="503999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2592000"/>
            <a:ext cx="11612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A8"/>
                </a:solidFill>
                <a:latin typeface="Calibri"/>
              </a:rPr>
              <a:t>⚡  Précédence :  Paramètre BAT  &gt;  Clé JSON  &gt;  Défaut interne du moteur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Paramètres obligatoires &amp; Nom du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1/8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1152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882000"/>
            <a:ext cx="111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-Paramètre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8000" y="864000"/>
            <a:ext cx="1188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882000"/>
            <a:ext cx="115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Défaut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2000" y="864000"/>
            <a:ext cx="9380952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882000"/>
            <a:ext cx="9344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18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68000" y="118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2000" y="118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122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-ConfigFile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122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(obligatoire)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000" y="122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Chemin du fichier JSON de configuration du job.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584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68000" y="1584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2000" y="1584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162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00" y="162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(obligatoire)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000" y="162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Statut : SUCCES | ERREUR | WARNING | INFO | PARTIEL | AUCUN_FICHIER | valeur custom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1980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68000" y="1980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2000" y="1980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000" y="2016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-NomJob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4000" y="2016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 "NomJob"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000" y="2016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Nom du job dans le mail. Optionnel si défini dans la config JSON.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2376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68000" y="2376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2000" y="2376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000" y="241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-Horodatage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" y="241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heure courante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000" y="241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Format yyyyMMdd_HHmmss. Passé par le BAT pour cohérence avec ODI.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000" y="2844000"/>
            <a:ext cx="11828952" cy="57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999" y="2898000"/>
            <a:ext cx="11684953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6BD4D4"/>
                </a:solidFill>
                <a:latin typeface="Courier New"/>
              </a:rPr>
              <a:t>powershell ... -ConfigFile "C:\ODI\DADP\config-dadp.json" -Status SUCCES
powershell ... -ConfigFile "C:\ODI\YHM\config-yhm.json"  -Status ERREUR -NomJob "IMR_YHM"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Contenu du mail —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2/8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1152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882000"/>
            <a:ext cx="111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-Paramètre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8000" y="864000"/>
            <a:ext cx="1188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882000"/>
            <a:ext cx="115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Défaut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2000" y="864000"/>
            <a:ext cx="9380952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882000"/>
            <a:ext cx="9344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18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68000" y="118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2000" y="118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122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-KeyValues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122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000" y="122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Paires clé=valeur séparées par ; → tableau de métadonnées.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566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68000" y="1566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2000" y="1566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160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00" y="160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000" y="160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Paires clé=valeur → bloc métriques visuelles (chiffres colorés).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1944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68000" y="1944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2000" y="1944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000" y="198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-MessageLibre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4000" y="198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000" y="198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Texte libre après les tableaux. HTML brut accepté, \n converti en &lt;br/&gt;.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2322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68000" y="2322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2000" y="2322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000" y="2358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-Etapes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" y="2358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000" y="2358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Étapes séparées par ^ ou |. Ex : [SUCCES] Étape 1^[ERREUR] Étape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000" y="2700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68000" y="2700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92000" y="2700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000" y="2736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-TableCsv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000" y="2736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8000" y="2736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Chemin CSV → tableau. Mode avancé si GroupBy défini.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0000" y="307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68000" y="307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92000" y="307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000" y="311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-TableTitle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4000" y="311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8000" y="311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Titre du tableau (mode simple).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00" y="3456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68000" y="3456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92000" y="3456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6000" y="349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-SectionFile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4000" y="349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8000" y="349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Fichier JSON de sections structurées (kv, table, texte, etapes, stats, code).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000" y="3834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68000" y="3834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92000" y="3834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6000" y="387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-SectionsInline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4000" y="387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8000" y="387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Même format que SectionFile, passé en JSON inline.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Tableaux CSV — Mode GroupBy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3/8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1152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882000"/>
            <a:ext cx="111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-Paramètre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8000" y="864000"/>
            <a:ext cx="1188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882000"/>
            <a:ext cx="115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Défaut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2000" y="864000"/>
            <a:ext cx="9380952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882000"/>
            <a:ext cx="9344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18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68000" y="118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2000" y="118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122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-GroupBy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122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000" y="122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1 table par valeur unique de la colonne de rupture.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566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68000" y="1566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2000" y="1566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160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-StatusColumn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00" y="160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000" y="160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Colonne statut → badge coloré (pire valeur du groupe).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1944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68000" y="1944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2000" y="1944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000" y="198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4000" y="198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000" y="198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Liste de colonnes à afficher (séparées par ,).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2322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68000" y="2322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2000" y="2322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000" y="2358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-Headers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" y="2358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000" y="2358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Noms d'affichage des colonnes (même ordre que -Columns).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000" y="2700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68000" y="2700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92000" y="2700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000" y="2736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-Delimiter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000" y="2736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';'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8000" y="2736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Délimiteur du CSV.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0000" y="307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68000" y="307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92000" y="307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000" y="311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-SortBy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4000" y="311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8000" y="311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Trier les lignes de chaque groupe par cette colonne.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00" y="3456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68000" y="3456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92000" y="3456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6000" y="349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-Descending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4000" y="349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8000" y="349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Tri descendant (plus récent en premier).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000" y="3834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68000" y="3834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92000" y="3834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6000" y="387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-TitlePrefix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4000" y="387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clé JSON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8000" y="387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Préfixe du titre de groupe. Ex : "Expéditeur" → "Expéditeur EXP_BNP".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0000" y="4248000"/>
            <a:ext cx="11828952" cy="54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1999" y="4302000"/>
            <a:ext cx="11684953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6BD4D4"/>
                </a:solidFill>
                <a:latin typeface="Courier New"/>
              </a:rPr>
              <a:t>"GroupBy":"Expediteur", "StatusColumn":"Statut", "SortBy":"Arrete", "Descending":true,
"TitlePrefix":"Expéditeur", "Columns":["Arrete","Somme_FOR"], "Headers":["Arrêté","FOR"]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Multi-fichiers &amp;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4/8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1152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882000"/>
            <a:ext cx="111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-Paramètre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8000" y="864000"/>
            <a:ext cx="1188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882000"/>
            <a:ext cx="115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Défaut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2000" y="864000"/>
            <a:ext cx="9380952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882000"/>
            <a:ext cx="9344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18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68000" y="118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2000" y="118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122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122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000" y="122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Chemins fichiers séparés par ; Format : chemin|titre|description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54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68000" y="154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2000" y="154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158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-FileDir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00" y="158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000" y="158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Répertoire scanné → tous les fichiers ajoutés à -Files.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190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68000" y="190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2000" y="190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000" y="194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-FilePattern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4000" y="194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'*.*'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000" y="194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Filtre du scan -FileDir.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226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68000" y="226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2000" y="226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000" y="230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-AutoAnalyze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" y="230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000" y="230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Analyser les CSV/LOG → statistiques + aperçu automatiques.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000" y="262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68000" y="262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92000" y="262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000" y="266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-MaxCsvRows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000" y="266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8000" y="266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Nombre max de lignes affichées par CSV analysé.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0000" y="298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68000" y="298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92000" y="298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000" y="302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-MaxCsvCols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4000" y="302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8000" y="302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Nombre max de colonnes affichées par CSV analysé.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00" y="334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68000" y="334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92000" y="334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6000" y="338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-LogDir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4000" y="338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config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8000" y="338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Répertoire contenant les logs à inclure dans le mail.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000" y="370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68000" y="370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92000" y="370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6000" y="374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-LogPattern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4000" y="374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'*.log'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8000" y="374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Filtre des fichiers de log.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0000" y="406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368000" y="406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92000" y="406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6000" y="410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-LogTailLines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04000" y="410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28000" y="410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Nombre de dernières lignes à inclure par log.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0000" y="442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68000" y="442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92000" y="442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000" y="446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-LogAttach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04000" y="446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28000" y="446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Joindre les fichiers log en pièce jointe.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Options d'envoi et de débogage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5/8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864000"/>
            <a:ext cx="1152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882000"/>
            <a:ext cx="111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-Paramètre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8000" y="864000"/>
            <a:ext cx="1188000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4000" y="882000"/>
            <a:ext cx="115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Défaut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2000" y="864000"/>
            <a:ext cx="9380952" cy="28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882000"/>
            <a:ext cx="9344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18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68000" y="118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2000" y="118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122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-DryRun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122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000" y="122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Génère le HTML SANS envoyer. Affiche DRYRUN_OK en sortie.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512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68000" y="1512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2000" y="1512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1548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-ExportHtml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4000" y="1548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000" y="1548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Sauvegarde le HTML final dans un fichier (debug / archivage).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1836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68000" y="1836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2000" y="1836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000" y="187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-MailPriority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4000" y="187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000" y="187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Priorité : Low | Normal | High.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2160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68000" y="2160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2000" y="2160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000" y="2196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-AutoPriority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" y="2196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000" y="2196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High automatiquement si ERREUR ou ECHEC.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000" y="2484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68000" y="2484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92000" y="2484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000" y="252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-OverrideTo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000" y="252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8000" y="252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Forcer les destinataires (utile en recette).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0000" y="2808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68000" y="2808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92000" y="2808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6000" y="284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-OverrideCc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4000" y="284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8000" y="284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Forcer les destinataires en copie.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00" y="3132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68000" y="3132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92000" y="3132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6000" y="3168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-ExtraSubject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4000" y="3168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8000" y="3168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Texte ajouté à la fin de l'objet du mail.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000" y="3456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68000" y="3456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92000" y="3456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6000" y="3492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-NoFooter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4000" y="3492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8000" y="3492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Retire le pied de page du template.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0000" y="3780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368000" y="3780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92000" y="3780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6000" y="3816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-Verbose2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04000" y="3816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$false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28000" y="3816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Journalisation détaillée en console (débogage).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0000" y="4104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68000" y="4104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92000" y="4104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000" y="4140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-Attachments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04000" y="4140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@()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28000" y="4140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Liste de chemins de fichiers à joindre en pièce jointe.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0000" y="4428000"/>
            <a:ext cx="1152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68000" y="4428000"/>
            <a:ext cx="1188000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92000" y="4428000"/>
            <a:ext cx="9416952" cy="37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6000" y="4464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-AttachDir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04000" y="4464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''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28000" y="4464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Répertoire scanné → tous les fichiers joints.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0000" y="4752000"/>
            <a:ext cx="1152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68000" y="4752000"/>
            <a:ext cx="11880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92000" y="4752000"/>
            <a:ext cx="9416952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6000" y="4788000"/>
            <a:ext cx="111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-AttachPattern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4000" y="4788000"/>
            <a:ext cx="11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  <a:latin typeface="Courier New"/>
              </a:rPr>
              <a:t>'*.*'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28000" y="4788000"/>
            <a:ext cx="9380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Filtre du scan -AttachDir.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Structure de la config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6/8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864000"/>
            <a:ext cx="11612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Clés obligatoires : SmtpServer, From, To, TemplatePath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080000"/>
            <a:ext cx="11828952" cy="129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999" y="1134000"/>
            <a:ext cx="11684953" cy="11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6BD4D4"/>
                </a:solidFill>
                <a:latin typeface="Courier New"/>
              </a:rPr>
              <a:t>{
  "SmtpServer":    "${SMTP_SERVER}",         // variable d'env
  "From":          "INEO.Job.Exploit@creditlogement.fr",
  "To":            ["destinataire@creditlogement.fr"],
  "TemplatePath":  "${TEMPLATE_PATH}",
  "Environnement": "PROD",
  "NomJob":        "IMR_MON_JOB",
  "MessageLibre":  "Données arrêtées à J-1.",
  "Subject":       "[{{STATUS_LABEL}}] [{{ENVIRONNEMENT}}] {{JOB_NAME}} - {{DATE}}",
  "StatusMessages":{ "SUCCES":"Tout s'est bien passé.", "ERREUR":"Erreur détectée." },
  "BadgeColors":   { "RECU":{"Bg":"#2E7D32","Text":"#FFF"}, "RETARD":{"Bg":"#E65100","Text":"#FFF"} },
  "BadgeSeverity": { "NON_RECU":3, "RETARD":2, "RECU":1 }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448000"/>
            <a:ext cx="11612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Clés disponibles également dans la config (même effet que les paramètres BAT)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682000"/>
            <a:ext cx="11612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A8A8"/>
                </a:solidFill>
                <a:latin typeface="Courier New"/>
              </a:rPr>
              <a:t>GroupBy · StatusColumn · Columns · Headers · Delimiter · SortBy · Descending · TitlePrefix · ThemeFile · LogDir · LogPattern · LogTailLines · LogErrorPattern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Exemples BAT complets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7/8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00000"/>
            <a:ext cx="11612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Cas 1 — Succès avec tableau 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151999"/>
            <a:ext cx="11828952" cy="66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999" y="1205999"/>
            <a:ext cx="11684953" cy="5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6BD4D4"/>
                </a:solidFill>
                <a:latin typeface="Courier New"/>
              </a:rPr>
              <a:t>powershell -ExecutionPolicy Bypass -File C:\ODI\PRODUCTION\SendMailNotificationHTML.ps1 ^
  -ConfigFile "C:\ODI\DADP\config-dadp.json" ^
  -Status SUCCES  -TableCsv "C:\ODI\out\DADP_STOCK_EVOL_MAIL.csv" ^
  -Stats "Expediteurs=12;Retards=2"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871999"/>
            <a:ext cx="11612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Cas 2 — Erreur avec étapes et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2123998"/>
            <a:ext cx="11828952" cy="66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2177998"/>
            <a:ext cx="11684953" cy="5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6BD4D4"/>
                </a:solidFill>
                <a:latin typeface="Courier New"/>
              </a:rPr>
              <a:t>powershell -ExecutionPolicy Bypass -File C:\ODI\PRODUCTION\SendMailNotificationHTML.ps1 ^
  -ConfigFile "C:\ODI\YHM\config-yhm.json" ^
  -Status ERREUR  -AutoPriority ^
  -Etapes "[SUCCES] Extraction^[SUCCES] Controle^[ERREUR] Chargement table" ^
  -LogDir "C:\ODI\logs" -LogPattern "YHM_*.log"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843998"/>
            <a:ext cx="11612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Calibri"/>
              </a:rPr>
              <a:t>Cas 3 — Test sans envoi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3095997"/>
            <a:ext cx="11828952" cy="46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999" y="3149997"/>
            <a:ext cx="11684953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6BD4D4"/>
                </a:solidFill>
                <a:latin typeface="Courier New"/>
              </a:rPr>
              <a:t>powershell ... -ConfigFile "..." -Status SUCCES ^
  -DryRun  -ExportHtml "C:\temp\preview.html"  -OverrideTo "moi@creditlogement.fr"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72000"/>
            <a:ext cx="11108952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Checklist — Intégrer un nouveau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25999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EEEE"/>
                </a:solidFill>
                <a:latin typeface="Calibri"/>
              </a:rPr>
              <a:t>8/8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E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11828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070"/>
                </a:solidFill>
                <a:latin typeface="Calibri"/>
              </a:rPr>
              <a:t>INEO — Exploitation · SendMailNotificationHTML.ps1 v4.2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900000"/>
            <a:ext cx="396000" cy="360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36000"/>
            <a:ext cx="3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900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Créer le fichier config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080000"/>
            <a:ext cx="1136095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SmtpServer, From, To, TemplatePath, Environnement, NomJob, StatusMessages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1313999"/>
            <a:ext cx="396000" cy="360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" y="1349999"/>
            <a:ext cx="3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1313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Adapter les statuts &amp; couleurs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1493999"/>
            <a:ext cx="1136095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StatusMessages, BadgeColors, BadgeSeverity dans le 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1727998"/>
            <a:ext cx="396000" cy="360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1763998"/>
            <a:ext cx="3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1727998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Configurer les colonnes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1907998"/>
            <a:ext cx="1136095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GroupBy, StatusColumn, Columns, Headers, SortBy, Descending, TitlePrefix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2141997"/>
            <a:ext cx="396000" cy="360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000" y="2177997"/>
            <a:ext cx="3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2141997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Appeler le moteur depuis le BAT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2321997"/>
            <a:ext cx="1136095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-ConfigFile / -Status / optionnels selon besoin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" y="2555996"/>
            <a:ext cx="396000" cy="360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2591996"/>
            <a:ext cx="3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" y="2555996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Tester sans envoyer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2735996"/>
            <a:ext cx="1136095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-DryRun -ExportHtml "preview.html" pour valider le rendu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000" y="2969995"/>
            <a:ext cx="396000" cy="360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000" y="3005995"/>
            <a:ext cx="3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" y="2969995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Valider avec -OverrideTo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" y="3149995"/>
            <a:ext cx="1136095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070"/>
                </a:solidFill>
                <a:latin typeface="Calibri"/>
              </a:rPr>
              <a:t>S'envoyer le mail à soi-même avant la mise en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